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oboto Slab"/>
      <p:regular r:id="rId22"/>
      <p:bold r:id="rId23"/>
    </p:embeddedFont>
    <p:embeddedFont>
      <p:font typeface="Robo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Slab-regular.fntdata"/><Relationship Id="rId21" Type="http://schemas.openxmlformats.org/officeDocument/2006/relationships/slide" Target="slides/slide16.xml"/><Relationship Id="rId24" Type="http://schemas.openxmlformats.org/officeDocument/2006/relationships/font" Target="fonts/Roboto-regular.fntdata"/><Relationship Id="rId23" Type="http://schemas.openxmlformats.org/officeDocument/2006/relationships/font" Target="fonts/RobotoSlab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7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a0c30593a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a0c30593a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a0c30593a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a0c30593a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a0c30593a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a0c30593a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a0c30593a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a0c30593a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a0c30593a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a0c30593a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a0c30593a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a0c30593a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a0c30593a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a0c30593a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a0c30593a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a0c30593a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a0c30593a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a0c30593a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a0c30593a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a0c30593a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a0c30593a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a0c30593a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a0c30593a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a0c30593a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a0c30593a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a0c30593a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a0c30593a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a0c30593a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a0c30593a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a0c30593a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Predicting Zodiac Signs from OKCupid Profiles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 Machine Learning Exploration</a:t>
            </a:r>
            <a:endParaRPr/>
          </a:p>
        </p:txBody>
      </p:sp>
      <p:sp>
        <p:nvSpPr>
          <p:cNvPr id="65" name="Google Shape;65;p13"/>
          <p:cNvSpPr txBox="1"/>
          <p:nvPr/>
        </p:nvSpPr>
        <p:spPr>
          <a:xfrm>
            <a:off x="7152300" y="4722875"/>
            <a:ext cx="16800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lt2"/>
                </a:solidFill>
              </a:rPr>
              <a:t>Gabriel Arcangel Bol</a:t>
            </a:r>
            <a:endParaRPr sz="1200">
              <a:solidFill>
                <a:schemeClr val="lt2"/>
              </a:solidFill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3825300" y="4808700"/>
            <a:ext cx="14934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2"/>
                </a:solidFill>
              </a:rPr>
              <a:t>November 2025</a:t>
            </a:r>
            <a:endParaRPr sz="11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Project Goals &amp; Motivation</a:t>
            </a:r>
            <a:endParaRPr/>
          </a:p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Goals</a:t>
            </a:r>
            <a:endParaRPr/>
          </a:p>
          <a:p>
            <a:pPr indent="-317182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Predict whether a user's zodiac sign can be inferred from their OKCupid profile.</a:t>
            </a:r>
            <a:br>
              <a:rPr lang="es"/>
            </a:br>
            <a:endParaRPr/>
          </a:p>
          <a:p>
            <a:pPr indent="-317182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Explore which profile features (text, lifestyle attributes, demographics) contribute to this prediction.</a:t>
            </a:r>
            <a:br>
              <a:rPr lang="es"/>
            </a:br>
            <a:endParaRPr/>
          </a:p>
          <a:p>
            <a:pPr indent="-317182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Practice a full machine-learning pipeline: EDA → Feature Engineering → Modeling → Evaluation.</a:t>
            </a:r>
            <a:br>
              <a:rPr lang="es"/>
            </a:b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Motivation</a:t>
            </a:r>
            <a:endParaRPr/>
          </a:p>
          <a:p>
            <a:pPr indent="-317182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Zodiac signs are common in dating preferences.</a:t>
            </a:r>
            <a:br>
              <a:rPr lang="es"/>
            </a:br>
            <a:endParaRPr/>
          </a:p>
          <a:p>
            <a:pPr indent="-317182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If predictable, this could enhance user matching or preference filtering.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Dataset Overview</a:t>
            </a:r>
            <a:endParaRPr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5407"/>
              <a:t>Dataset: OKCupid profiles.csv</a:t>
            </a:r>
            <a:endParaRPr sz="5407"/>
          </a:p>
          <a:p>
            <a:pPr indent="-314447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 sz="5407"/>
              <a:t>59,946 users</a:t>
            </a:r>
            <a:endParaRPr sz="5407"/>
          </a:p>
          <a:p>
            <a:pPr indent="-314447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5407"/>
              <a:t>31 columns: demographics, lifestyle choices, text-based essays</a:t>
            </a:r>
            <a:endParaRPr sz="5407"/>
          </a:p>
          <a:p>
            <a:pPr indent="-314447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5407"/>
              <a:t>Mix of structured categorical, numerical features, and large free-text fields</a:t>
            </a:r>
            <a:br>
              <a:rPr lang="es" sz="5407"/>
            </a:br>
            <a:endParaRPr sz="5407"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5407"/>
              <a:t>Challenges</a:t>
            </a:r>
            <a:endParaRPr sz="5407"/>
          </a:p>
          <a:p>
            <a:pPr indent="-314447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 sz="5407"/>
              <a:t>High missing values in lifestyle fields</a:t>
            </a:r>
            <a:endParaRPr sz="5407"/>
          </a:p>
          <a:p>
            <a:pPr indent="-314447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5407"/>
              <a:t>Essays are long, noisy, and informal</a:t>
            </a:r>
            <a:endParaRPr sz="5407"/>
          </a:p>
          <a:p>
            <a:pPr indent="-314447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5407"/>
              <a:t>Zodiac distribution nearly uniform → hard classification task</a:t>
            </a:r>
            <a:endParaRPr b="1" sz="47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Research Questions</a:t>
            </a:r>
            <a:endParaRPr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/>
          </a:bodyPr>
          <a:lstStyle/>
          <a:p>
            <a:pPr indent="-3659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5407"/>
              <a:t>Can we accurately classify zodiac signs based on OKCupid profile data?</a:t>
            </a:r>
            <a:endParaRPr sz="5407"/>
          </a:p>
          <a:p>
            <a:pPr indent="-3659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5407"/>
              <a:t>Do text-derived features (e.g., sentiment) improve prediction?</a:t>
            </a:r>
            <a:endParaRPr sz="5407"/>
          </a:p>
          <a:p>
            <a:pPr indent="-3659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5407"/>
              <a:t>Which machine learning models perform best for this task?</a:t>
            </a:r>
            <a:endParaRPr sz="5407"/>
          </a:p>
          <a:p>
            <a:pPr indent="-3659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5407"/>
              <a:t>What can regression teach us when applied to a different target (e.g., age)?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Exploratory Data Analysis (EDA)</a:t>
            </a:r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74"/>
              <a:t>Key Insights</a:t>
            </a:r>
            <a:endParaRPr sz="1374"/>
          </a:p>
          <a:p>
            <a:pPr indent="-315863" lvl="0" marL="457200" rtl="0" algn="l">
              <a:spcBef>
                <a:spcPts val="1200"/>
              </a:spcBef>
              <a:spcAft>
                <a:spcPts val="0"/>
              </a:spcAft>
              <a:buSzPts val="1374"/>
              <a:buChar char="●"/>
            </a:pPr>
            <a:r>
              <a:rPr lang="es" sz="1374"/>
              <a:t>Most users are between 25 and 35 years old  (Right-Skewed Distribution).</a:t>
            </a:r>
            <a:endParaRPr sz="1374"/>
          </a:p>
          <a:p>
            <a:pPr indent="-315863" lvl="0" marL="457200" rtl="0" algn="l">
              <a:spcBef>
                <a:spcPts val="0"/>
              </a:spcBef>
              <a:spcAft>
                <a:spcPts val="0"/>
              </a:spcAft>
              <a:buSzPts val="1374"/>
              <a:buChar char="●"/>
            </a:pPr>
            <a:r>
              <a:rPr lang="es" sz="1374"/>
              <a:t>Very few users over 50, limiting predictive power for older demographics  (Strong age skew).</a:t>
            </a:r>
            <a:endParaRPr sz="1374"/>
          </a:p>
          <a:p>
            <a:pPr indent="-315863" lvl="0" marL="457200" rtl="0" algn="l">
              <a:spcBef>
                <a:spcPts val="0"/>
              </a:spcBef>
              <a:spcAft>
                <a:spcPts val="0"/>
              </a:spcAft>
              <a:buSzPts val="1374"/>
              <a:buChar char="●"/>
            </a:pPr>
            <a:r>
              <a:rPr lang="es" sz="1374"/>
              <a:t>Slight differences across gender but overall similar shapes.</a:t>
            </a:r>
            <a:endParaRPr sz="1374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sz="1374"/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1364" y="2673550"/>
            <a:ext cx="3001274" cy="189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Categorical Exploration: Body Type by Gender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74"/>
              <a:t>Key Insights</a:t>
            </a:r>
            <a:endParaRPr/>
          </a:p>
          <a:p>
            <a:pPr indent="-314325" lvl="0" marL="457200" rtl="0" algn="l"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lang="es" sz="1350"/>
              <a:t>The perception of 'Body Type' is heavily gendered.</a:t>
            </a:r>
            <a:endParaRPr sz="1350"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s" sz="1350"/>
              <a:t>Men tend to self-report as 'average' or 'fit' more frequently.</a:t>
            </a:r>
            <a:endParaRPr sz="1350"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s" sz="1350"/>
              <a:t>Women are more likely to report as '</a:t>
            </a:r>
            <a:r>
              <a:rPr lang="es" sz="1350"/>
              <a:t>athletic</a:t>
            </a:r>
            <a:r>
              <a:rPr lang="es" sz="1350"/>
              <a:t>' or 'average'.</a:t>
            </a:r>
            <a:endParaRPr sz="1350"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s" sz="1350"/>
              <a:t>This difference highlights the subjectivity and bias present in self-reported categorical data.</a:t>
            </a:r>
            <a:endParaRPr sz="13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5777" y="2902950"/>
            <a:ext cx="2792450" cy="166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Feature Analysis: The Missing Predictive Signal</a:t>
            </a:r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/>
              <a:t>Key Findings:</a:t>
            </a:r>
            <a:endParaRPr sz="1350"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50"/>
              <a:t>• Weak Correlation: The correlation matrix reveals near-zero linear relationships between key profile features and the zodiac target.</a:t>
            </a:r>
            <a:endParaRPr sz="1350"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50"/>
              <a:t>• Text Data Noise: Essay features (TF-IDF) were too subjective and noisy to capture astrological patterns.</a:t>
            </a:r>
            <a:endParaRPr sz="1350"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50"/>
              <a:t>• Conclusion: The features simply do not encode the information necessary for prediction.</a:t>
            </a:r>
            <a:endParaRPr sz="13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2716" y="3337041"/>
            <a:ext cx="2078549" cy="1441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Data Cleaning &amp; Preprocessing</a:t>
            </a:r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Steps Performed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Removed extreme outliers (age, height, essay length)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Filled missing lifestyle attributes as "</a:t>
            </a:r>
            <a:r>
              <a:rPr b="1" lang="es"/>
              <a:t>unknown</a:t>
            </a:r>
            <a:r>
              <a:rPr lang="es"/>
              <a:t>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Dropped highly incomplete columns (if any)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Normalized numeric features: age, height, income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Encoded categorical features: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Label Encoding for ordinal-like categories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One Hot Encoding for nominal categories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Feature Engineering (New Columns Created)</a:t>
            </a:r>
            <a:endParaRPr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s" sz="1350"/>
              <a:t>1. essays_combined</a:t>
            </a:r>
            <a:endParaRPr b="1" sz="1350"/>
          </a:p>
          <a:p>
            <a:pPr indent="-31432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lang="es" sz="1350"/>
              <a:t>Concatenated all essay fields into one text column.</a:t>
            </a:r>
            <a:endParaRPr sz="1350"/>
          </a:p>
          <a:p>
            <a:pPr indent="-31432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s" sz="1350"/>
              <a:t>Simplifies text processing, avoids sparse features.</a:t>
            </a:r>
            <a:endParaRPr sz="13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s" sz="1350"/>
              <a:t>2. sentiment </a:t>
            </a:r>
            <a:r>
              <a:rPr lang="es" sz="1350"/>
              <a:t>score</a:t>
            </a:r>
            <a:endParaRPr sz="1350"/>
          </a:p>
          <a:p>
            <a:pPr indent="-31432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lang="es" sz="1350"/>
              <a:t>Computed using TextBlob polarity (−1 to 1).</a:t>
            </a:r>
            <a:endParaRPr sz="1350"/>
          </a:p>
          <a:p>
            <a:pPr indent="-31432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s" sz="1350"/>
              <a:t>Captures overall positivity / negativity in user writing.</a:t>
            </a:r>
            <a:endParaRPr sz="13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s" sz="1350"/>
              <a:t>Why these matter</a:t>
            </a:r>
            <a:endParaRPr sz="1350"/>
          </a:p>
          <a:p>
            <a:pPr indent="-31432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lang="es" sz="1350"/>
              <a:t>Text is the richest source of personal expression.</a:t>
            </a:r>
            <a:endParaRPr sz="1350"/>
          </a:p>
          <a:p>
            <a:pPr indent="-31432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s" sz="1350"/>
              <a:t>Sentiment might correlate with personality, lifestyle, or zodiac-related traits.</a:t>
            </a:r>
            <a:endParaRPr sz="13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Sentiment Features from Essays</a:t>
            </a:r>
            <a:endParaRPr/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/>
              <a:t>Insight</a:t>
            </a:r>
            <a:endParaRPr sz="1350"/>
          </a:p>
          <a:p>
            <a:pPr indent="-314325" lvl="0" marL="457200" rtl="0" algn="l"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lang="es" sz="1350"/>
              <a:t>Sentiment is approximately normally distributed around 0.</a:t>
            </a:r>
            <a:endParaRPr sz="1350"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s" sz="1350"/>
              <a:t>No strong differences across zodiac signs.</a:t>
            </a:r>
            <a:endParaRPr sz="1350"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s" sz="1350"/>
              <a:t>Suggests that sentiment is not predictive for this task, but still useful to test.</a:t>
            </a:r>
            <a:endParaRPr sz="1350"/>
          </a:p>
        </p:txBody>
      </p:sp>
      <p:pic>
        <p:nvPicPr>
          <p:cNvPr id="124" name="Google Shape;1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4725" y="3103250"/>
            <a:ext cx="2320799" cy="146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0375" y="3103250"/>
            <a:ext cx="2135417" cy="146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Classification Models Tested</a:t>
            </a:r>
            <a:endParaRPr/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s" sz="1375"/>
              <a:t>Models Evaluated</a:t>
            </a:r>
            <a:endParaRPr sz="1375"/>
          </a:p>
          <a:p>
            <a:pPr indent="-315912" lvl="1" marL="91440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75"/>
              <a:buChar char="○"/>
            </a:pPr>
            <a:r>
              <a:rPr lang="es" sz="1375"/>
              <a:t>Logistic Regression</a:t>
            </a:r>
            <a:endParaRPr sz="1375"/>
          </a:p>
          <a:p>
            <a:pPr indent="-315912" lvl="1" marL="9144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75"/>
              <a:buChar char="○"/>
            </a:pPr>
            <a:r>
              <a:rPr lang="es" sz="1375"/>
              <a:t>K-Nearest Neighbors (KNN)</a:t>
            </a:r>
            <a:endParaRPr sz="1375"/>
          </a:p>
          <a:p>
            <a:pPr indent="-315912" lvl="1" marL="9144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75"/>
              <a:buChar char="○"/>
            </a:pPr>
            <a:r>
              <a:rPr lang="es" sz="1375"/>
              <a:t>Linear SVC</a:t>
            </a:r>
            <a:endParaRPr sz="1375"/>
          </a:p>
          <a:p>
            <a:pPr indent="-315912" lvl="1" marL="9144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75"/>
              <a:buChar char="○"/>
            </a:pPr>
            <a:r>
              <a:rPr lang="es" sz="1375"/>
              <a:t>Naive Bayes</a:t>
            </a:r>
            <a:endParaRPr sz="1375"/>
          </a:p>
          <a:p>
            <a:pPr indent="-315912" lvl="1" marL="9144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75"/>
              <a:buChar char="○"/>
            </a:pPr>
            <a:r>
              <a:rPr lang="es" sz="1375"/>
              <a:t>Random Forest (optimized)</a:t>
            </a:r>
            <a:endParaRPr sz="1375"/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s" sz="1375"/>
              <a:t>Performance Summary</a:t>
            </a:r>
            <a:endParaRPr sz="1375"/>
          </a:p>
          <a:p>
            <a:pPr indent="-315912" lvl="1" marL="91440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75"/>
              <a:buChar char="○"/>
            </a:pPr>
            <a:r>
              <a:rPr lang="es" sz="1375"/>
              <a:t>All models achieve 8–9% accuracy, close to random guess (≈ 1/12 ≈ 8.3%).</a:t>
            </a:r>
            <a:endParaRPr sz="1375"/>
          </a:p>
          <a:p>
            <a:pPr indent="-315912" lvl="1" marL="9144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75"/>
              <a:buChar char="○"/>
            </a:pPr>
            <a:r>
              <a:rPr lang="es" sz="1375"/>
              <a:t>Naive Bayes: fastest (~0.2s)</a:t>
            </a:r>
            <a:endParaRPr sz="1375"/>
          </a:p>
          <a:p>
            <a:pPr indent="-315912" lvl="1" marL="9144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75"/>
              <a:buChar char="○"/>
            </a:pPr>
            <a:r>
              <a:rPr lang="es" sz="1375"/>
              <a:t>Logistic Regression: slowest (~7.5s)</a:t>
            </a:r>
            <a:endParaRPr sz="1375"/>
          </a:p>
          <a:p>
            <a:pPr indent="-315912" lvl="1" marL="9144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75"/>
              <a:buChar char="○"/>
            </a:pPr>
            <a:r>
              <a:rPr lang="es" sz="1375"/>
              <a:t>Random Forest: best accuracy, but still low.</a:t>
            </a:r>
            <a:endParaRPr sz="1375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600"/>
              <a:t>Model Performance Summary: Low Signal-to-Noise</a:t>
            </a:r>
            <a:endParaRPr sz="2600"/>
          </a:p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350"/>
              <a:t>Classification (Zodiac Prediction):</a:t>
            </a:r>
            <a:endParaRPr b="1" sz="1350"/>
          </a:p>
          <a:p>
            <a:pPr indent="-314325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b="1" lang="es" sz="1350"/>
              <a:t>Accuracy: All models achieved ~8.5% Accuracy, equivalent to random guessing.</a:t>
            </a:r>
            <a:endParaRPr b="1" sz="13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350"/>
              <a:t>Takeaways</a:t>
            </a:r>
            <a:endParaRPr b="1" sz="1350"/>
          </a:p>
          <a:p>
            <a:pPr indent="-314325" lvl="0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oboto"/>
              <a:buChar char="●"/>
            </a:pPr>
            <a:r>
              <a:rPr lang="es" sz="1350"/>
              <a:t>Confusion matrix shows heavy confusion across all zodiac classes.</a:t>
            </a:r>
            <a:endParaRPr sz="1350"/>
          </a:p>
          <a:p>
            <a:pPr indent="-314325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oboto"/>
              <a:buChar char="●"/>
            </a:pPr>
            <a:r>
              <a:rPr lang="es" sz="1350"/>
              <a:t>No model meaningfully outperforms random guess.</a:t>
            </a:r>
            <a:endParaRPr sz="1350"/>
          </a:p>
          <a:p>
            <a:pPr indent="-314325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oboto"/>
              <a:buChar char="●"/>
            </a:pPr>
            <a:r>
              <a:rPr lang="es" sz="1350"/>
              <a:t>The features simply do not encode zodiac information.</a:t>
            </a:r>
            <a:endParaRPr sz="135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8775" y="3551000"/>
            <a:ext cx="1801999" cy="1405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7358" y="3551000"/>
            <a:ext cx="1586667" cy="140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Regression Analysis (Age Prediction)</a:t>
            </a:r>
            <a:endParaRPr/>
          </a:p>
        </p:txBody>
      </p:sp>
      <p:sp>
        <p:nvSpPr>
          <p:cNvPr id="145" name="Google Shape;145;p2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000"/>
              <a:t>Key Regression Findings:</a:t>
            </a:r>
            <a:endParaRPr b="1" sz="1000"/>
          </a:p>
          <a:p>
            <a:pPr indent="-2921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s" sz="1000"/>
              <a:t>Linear Regression: Fastest, but lowest accuracy (R² = 0.12).</a:t>
            </a:r>
            <a:endParaRPr sz="1000"/>
          </a:p>
          <a:p>
            <a:pPr indent="-2921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s" sz="1000"/>
              <a:t>Random Forest Regressor: Better performance (R² = 0.27) but still limited.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00"/>
              <a:t> </a:t>
            </a:r>
            <a:r>
              <a:rPr b="1" lang="es" sz="1000"/>
              <a:t>Insight </a:t>
            </a:r>
            <a:endParaRPr b="1" sz="1000"/>
          </a:p>
          <a:p>
            <a:pPr indent="-2921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s" sz="1000"/>
              <a:t>While age is more predictable than the zodiac sign, the essays alone are insufficient for robust numerical prediction.</a:t>
            </a:r>
            <a:endParaRPr b="1" sz="100"/>
          </a:p>
        </p:txBody>
      </p:sp>
      <p:pic>
        <p:nvPicPr>
          <p:cNvPr id="146" name="Google Shape;14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3288" y="3046699"/>
            <a:ext cx="3497424" cy="143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Key Findings</a:t>
            </a:r>
            <a:endParaRPr/>
          </a:p>
        </p:txBody>
      </p:sp>
      <p:sp>
        <p:nvSpPr>
          <p:cNvPr id="152" name="Google Shape;152;p2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Font typeface="Arial"/>
              <a:buChar char="●"/>
            </a:pPr>
            <a:r>
              <a:rPr lang="es" sz="1350"/>
              <a:t>Zodiac prediction </a:t>
            </a:r>
            <a:r>
              <a:rPr b="1" lang="es" sz="1350"/>
              <a:t>is not feasible</a:t>
            </a:r>
            <a:r>
              <a:rPr lang="es" sz="1350"/>
              <a:t> using structured or sentiment-based features.</a:t>
            </a:r>
            <a:endParaRPr sz="1350"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Font typeface="Arial"/>
              <a:buChar char="●"/>
            </a:pPr>
            <a:r>
              <a:rPr lang="es" sz="1350"/>
              <a:t>Data shows </a:t>
            </a:r>
            <a:r>
              <a:rPr b="1" lang="es" sz="1350"/>
              <a:t>no strong correlation</a:t>
            </a:r>
            <a:r>
              <a:rPr lang="es" sz="1350"/>
              <a:t> between zodiac and profile attributes.</a:t>
            </a:r>
            <a:endParaRPr sz="1350"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s" sz="1350"/>
              <a:t>Model performance is nearly random regardless of technique.</a:t>
            </a:r>
            <a:endParaRPr sz="1350"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Font typeface="Arial"/>
              <a:buChar char="●"/>
            </a:pPr>
            <a:r>
              <a:rPr lang="es" sz="1350"/>
              <a:t>Good reminder: </a:t>
            </a:r>
            <a:r>
              <a:rPr b="1" lang="es" sz="1350"/>
              <a:t>Not all real-world questions are learnable problems.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Final Conclusions &amp; Key Takeaways</a:t>
            </a:r>
            <a:endParaRPr/>
          </a:p>
        </p:txBody>
      </p:sp>
      <p:sp>
        <p:nvSpPr>
          <p:cNvPr id="158" name="Google Shape;158;p2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4325" lvl="0" marL="457200" rtl="0" algn="l"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b="1" lang="es" sz="1350">
                <a:latin typeface="Arial"/>
                <a:ea typeface="Arial"/>
                <a:cs typeface="Arial"/>
                <a:sym typeface="Arial"/>
              </a:rPr>
              <a:t>Data Quality:</a:t>
            </a:r>
            <a:r>
              <a:rPr lang="es" sz="1350">
                <a:latin typeface="Arial"/>
                <a:ea typeface="Arial"/>
                <a:cs typeface="Arial"/>
                <a:sym typeface="Arial"/>
              </a:rPr>
              <a:t> Real-world social data is often messy and subjective.</a:t>
            </a:r>
            <a:endParaRPr sz="1350"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b="1" lang="es" sz="1350">
                <a:latin typeface="Arial"/>
                <a:ea typeface="Arial"/>
                <a:cs typeface="Arial"/>
                <a:sym typeface="Arial"/>
              </a:rPr>
              <a:t>Core Issue:</a:t>
            </a:r>
            <a:r>
              <a:rPr lang="es" sz="1350">
                <a:latin typeface="Arial"/>
                <a:ea typeface="Arial"/>
                <a:cs typeface="Arial"/>
                <a:sym typeface="Arial"/>
              </a:rPr>
              <a:t> Sentiment and demographic/lifestyle features add noise, not predictive power.</a:t>
            </a:r>
            <a:endParaRPr sz="1350"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b="1" lang="es" sz="1350">
                <a:latin typeface="Arial"/>
                <a:ea typeface="Arial"/>
                <a:cs typeface="Arial"/>
                <a:sym typeface="Arial"/>
              </a:rPr>
              <a:t>Final Insight:</a:t>
            </a:r>
            <a:r>
              <a:rPr lang="es" sz="1350">
                <a:latin typeface="Arial"/>
                <a:ea typeface="Arial"/>
                <a:cs typeface="Arial"/>
                <a:sym typeface="Arial"/>
              </a:rPr>
              <a:t> This project reinforces the importance of </a:t>
            </a:r>
            <a:r>
              <a:rPr b="1" lang="es" sz="1350">
                <a:latin typeface="Arial"/>
                <a:ea typeface="Arial"/>
                <a:cs typeface="Arial"/>
                <a:sym typeface="Arial"/>
              </a:rPr>
              <a:t>critical evaluation</a:t>
            </a:r>
            <a:r>
              <a:rPr lang="es" sz="1350">
                <a:latin typeface="Arial"/>
                <a:ea typeface="Arial"/>
                <a:cs typeface="Arial"/>
                <a:sym typeface="Arial"/>
              </a:rPr>
              <a:t>. Not all research questions are "learnable" problems using the given data.</a:t>
            </a:r>
            <a:endParaRPr sz="13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Strategic Next Steps &amp; Future Work</a:t>
            </a:r>
            <a:endParaRPr/>
          </a:p>
        </p:txBody>
      </p:sp>
      <p:sp>
        <p:nvSpPr>
          <p:cNvPr id="164" name="Google Shape;164;p2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4325" lvl="0" marL="457200" rtl="0" algn="l">
              <a:spcBef>
                <a:spcPts val="1200"/>
              </a:spcBef>
              <a:spcAft>
                <a:spcPts val="0"/>
              </a:spcAft>
              <a:buSzPts val="1350"/>
              <a:buFont typeface="Arial"/>
              <a:buChar char="●"/>
            </a:pPr>
            <a:r>
              <a:rPr b="1" lang="es" sz="1350">
                <a:latin typeface="Arial"/>
                <a:ea typeface="Arial"/>
                <a:cs typeface="Arial"/>
                <a:sym typeface="Arial"/>
              </a:rPr>
              <a:t>Reframed Task: Pivot the project to predict more learnable traits (e.g., Smoking Habits or Diet Preference from the essay text).</a:t>
            </a:r>
            <a:endParaRPr b="1" sz="1350"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Font typeface="Arial"/>
              <a:buChar char="●"/>
            </a:pPr>
            <a:r>
              <a:rPr b="1" lang="es" sz="1350">
                <a:latin typeface="Arial"/>
                <a:ea typeface="Arial"/>
                <a:cs typeface="Arial"/>
                <a:sym typeface="Arial"/>
              </a:rPr>
              <a:t>Advanced NLP: Explore deep learning text embeddings (BERT, DistilBERT) to capture semantic meaning more effectively than TF-IDF.</a:t>
            </a:r>
            <a:endParaRPr b="1" sz="1350"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Font typeface="Arial"/>
              <a:buChar char="●"/>
            </a:pPr>
            <a:r>
              <a:rPr b="1" lang="es" sz="1350">
                <a:latin typeface="Arial"/>
                <a:ea typeface="Arial"/>
                <a:cs typeface="Arial"/>
                <a:sym typeface="Arial"/>
              </a:rPr>
              <a:t>Unsupervised Learning: Use clustering (K-Means) to identify Dating Archetypes or persona groups.</a:t>
            </a:r>
            <a:endParaRPr b="1" sz="13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